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演示数值</c:v>
                </c:pt>
              </c:strCache>
            </c:strRef>
          </c:tx>
          <c:spPr>
            <a:solidFill>
              <a:srgbClr val="007D78"/>
            </a:solidFill>
          </c:spPr>
          <c:cat>
            <c:strRef>
              <c:f>Sheet1!$A$2:$A$4</c:f>
              <c:strCache>
                <c:ptCount val="3"/>
                <c:pt idx="0">
                  <c:v>方案甲</c:v>
                </c:pt>
                <c:pt idx="1">
                  <c:v>方案乙</c:v>
                </c:pt>
                <c:pt idx="2">
                  <c:v>方案丙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400" b="0">
                    <a:solidFill>
                      <a:srgbClr val="516270"/>
                    </a:solidFill>
                    <a:latin typeface="Arial"/>
                    <a:ea typeface="Microsoft YaHei"/>
                  </a:rPr>
                  <a:t>示例单位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本演示是新技能的功能样例，不包含真实业务绩效指标。介绍从材料到可验证演示文稿的工作流。</a:t>
            </a:r>
          </a:p>
          <a:p/>
          <a:p>
            <a:r>
              <a:t>Speaking budget: 30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在排版前先判断演示的目的。技术评审需要边界和证据，客户介绍需要问题、价值与后续行动。</a:t>
            </a:r>
          </a:p>
          <a:p/>
          <a:p>
            <a:r>
              <a:t>Speaking budget: 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能生成文件不代表内容正确，也不代表页面没有溢出。两类验证各自保留结果。</a:t>
            </a:r>
          </a:p>
          <a:p/>
          <a:p>
            <a:r>
              <a:t>Speaking budget: 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四个环节依次进行，发现问题后回到对应的源稿修改。不要通过无限缩小字体解决内容过多。</a:t>
            </a:r>
          </a:p>
          <a:p/>
          <a:p>
            <a:r>
              <a:t>Speaking budget: 65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这是原生图表，底层数值以工作簿形式保留。数据是明确标注的示例，不能用来声称性能提升。</a:t>
            </a:r>
          </a:p>
          <a:p/>
          <a:p>
            <a:r>
              <a:t>Speaking budget: 55 seconds</a:t>
            </a:r>
          </a:p>
          <a:p/>
          <a:p>
            <a:r>
              <a:t>Sources:</a:t>
            </a:r>
          </a:p>
          <a:p>
            <a:r>
              <a:t>来源：本技能人工构造的示例数据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源稿、演示文件和检查结果一起交付，便于客户修改和后续维护。</a:t>
            </a:r>
          </a:p>
          <a:p/>
          <a:p>
            <a:r>
              <a:t>Speaking budget: 60 seconds</a:t>
            </a:r>
          </a:p>
          <a:p/>
          <a:p>
            <a:r>
              <a:t>Sources:</a:t>
            </a:r>
          </a:p>
          <a:p>
            <a:r>
              <a:t>来源：本技能交付约定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结构检查识别越界、重叠等机械问题；真实渲染和阅读检查负责字体、换行和表达效果。</a:t>
            </a:r>
          </a:p>
          <a:p/>
          <a:p>
            <a:r>
              <a:t>Speaking budget: 30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本例验证技能的基础生成和检查能力。实际项目应补充品牌、数据、内容审查和目标客户端验收。</a:t>
            </a:r>
          </a:p>
          <a:p/>
          <a:p>
            <a:r>
              <a:t>Speaking budget: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cover-panel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kicker"/>
          <p:cNvSpPr txBox="1"/>
          <p:nvPr/>
        </p:nvSpPr>
        <p:spPr>
          <a:xfrm>
            <a:off x="594360" y="685800"/>
            <a:ext cx="11003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FED"/>
                </a:solidFill>
                <a:latin typeface="Arial"/>
                <a:ea typeface="Microsoft YaHei"/>
              </a:rPr>
              <a:t>OpenAS · PRESENTATION WORKFLOW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1645920"/>
            <a:ext cx="11003279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  <a:ea typeface="Microsoft YaHei"/>
              </a:rPr>
              <a:t>把观点讲清楚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  <a:ea typeface="Microsoft YaHei"/>
              </a:rPr>
              <a:t>让结果可验证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94360" y="3474720"/>
            <a:ext cx="11003279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6EFED"/>
                </a:solidFill>
                <a:latin typeface="Arial"/>
                <a:ea typeface="Microsoft YaHei"/>
              </a:rPr>
              <a:t>OpenAS 演示文稿工作流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6EFED"/>
                </a:solidFill>
                <a:latin typeface="Arial"/>
                <a:ea typeface="Microsoft YaHei"/>
              </a:rPr>
              <a:t>内容、设计、可编辑输出与逐页检查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先明确听众需要做出的决定</a:t>
            </a:r>
          </a:p>
        </p:txBody>
      </p:sp>
      <p:sp>
        <p:nvSpPr>
          <p:cNvPr id="3" name="decor:body-marker-0"/>
          <p:cNvSpPr/>
          <p:nvPr/>
        </p:nvSpPr>
        <p:spPr>
          <a:xfrm>
            <a:off x="594360" y="1938528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-0"/>
          <p:cNvSpPr txBox="1"/>
          <p:nvPr/>
        </p:nvSpPr>
        <p:spPr>
          <a:xfrm>
            <a:off x="868680" y="1828800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确定受众、场景与演讲时长</a:t>
            </a:r>
          </a:p>
        </p:txBody>
      </p:sp>
      <p:sp>
        <p:nvSpPr>
          <p:cNvPr id="5" name="decor:body-marker-1"/>
          <p:cNvSpPr/>
          <p:nvPr/>
        </p:nvSpPr>
        <p:spPr>
          <a:xfrm>
            <a:off x="594360" y="2471420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-1"/>
          <p:cNvSpPr txBox="1"/>
          <p:nvPr/>
        </p:nvSpPr>
        <p:spPr>
          <a:xfrm>
            <a:off x="868680" y="2361692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每页聚焦一个有证据的观点</a:t>
            </a:r>
          </a:p>
        </p:txBody>
      </p:sp>
      <p:sp>
        <p:nvSpPr>
          <p:cNvPr id="7" name="decor:body-marker-2"/>
          <p:cNvSpPr/>
          <p:nvPr/>
        </p:nvSpPr>
        <p:spPr>
          <a:xfrm>
            <a:off x="594360" y="3004312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-2"/>
          <p:cNvSpPr txBox="1"/>
          <p:nvPr/>
        </p:nvSpPr>
        <p:spPr>
          <a:xfrm>
            <a:off x="868680" y="2894584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用备注承载细节，让页面保持简洁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内容质量与视觉质量需要分别验证</a:t>
            </a:r>
          </a:p>
        </p:txBody>
      </p:sp>
      <p:sp>
        <p:nvSpPr>
          <p:cNvPr id="3" name="left-heading"/>
          <p:cNvSpPr txBox="1"/>
          <p:nvPr/>
        </p:nvSpPr>
        <p:spPr>
          <a:xfrm>
            <a:off x="594360" y="1828800"/>
            <a:ext cx="527303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78"/>
                </a:solidFill>
                <a:latin typeface="Arial"/>
                <a:ea typeface="Microsoft YaHei"/>
              </a:rPr>
              <a:t>内容</a:t>
            </a:r>
          </a:p>
        </p:txBody>
      </p:sp>
      <p:sp>
        <p:nvSpPr>
          <p:cNvPr id="4" name="decor:left-marker-0"/>
          <p:cNvSpPr/>
          <p:nvPr/>
        </p:nvSpPr>
        <p:spPr>
          <a:xfrm>
            <a:off x="594360" y="2852928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-0"/>
          <p:cNvSpPr txBox="1"/>
          <p:nvPr/>
        </p:nvSpPr>
        <p:spPr>
          <a:xfrm>
            <a:off x="868680" y="2743200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结论能回溯到材料</a:t>
            </a:r>
          </a:p>
        </p:txBody>
      </p:sp>
      <p:sp>
        <p:nvSpPr>
          <p:cNvPr id="6" name="decor:left-marker-1"/>
          <p:cNvSpPr/>
          <p:nvPr/>
        </p:nvSpPr>
        <p:spPr>
          <a:xfrm>
            <a:off x="594360" y="3341624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-1"/>
          <p:cNvSpPr txBox="1"/>
          <p:nvPr/>
        </p:nvSpPr>
        <p:spPr>
          <a:xfrm>
            <a:off x="868680" y="3231896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数据单位与条件清楚</a:t>
            </a:r>
          </a:p>
        </p:txBody>
      </p:sp>
      <p:sp>
        <p:nvSpPr>
          <p:cNvPr id="8" name="decor:left-marker-2"/>
          <p:cNvSpPr/>
          <p:nvPr/>
        </p:nvSpPr>
        <p:spPr>
          <a:xfrm>
            <a:off x="594360" y="3830320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-2"/>
          <p:cNvSpPr txBox="1"/>
          <p:nvPr/>
        </p:nvSpPr>
        <p:spPr>
          <a:xfrm>
            <a:off x="868680" y="3720592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示例与真实结果分开</a:t>
            </a:r>
          </a:p>
        </p:txBody>
      </p:sp>
      <p:sp>
        <p:nvSpPr>
          <p:cNvPr id="10" name="right-heading"/>
          <p:cNvSpPr txBox="1"/>
          <p:nvPr/>
        </p:nvSpPr>
        <p:spPr>
          <a:xfrm>
            <a:off x="6324599" y="1828800"/>
            <a:ext cx="527303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78"/>
                </a:solidFill>
                <a:latin typeface="Arial"/>
                <a:ea typeface="Microsoft YaHei"/>
              </a:rPr>
              <a:t>视觉</a:t>
            </a:r>
          </a:p>
        </p:txBody>
      </p:sp>
      <p:sp>
        <p:nvSpPr>
          <p:cNvPr id="11" name="decor:right-marker-0"/>
          <p:cNvSpPr/>
          <p:nvPr/>
        </p:nvSpPr>
        <p:spPr>
          <a:xfrm>
            <a:off x="6324599" y="2852928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-0"/>
          <p:cNvSpPr txBox="1"/>
          <p:nvPr/>
        </p:nvSpPr>
        <p:spPr>
          <a:xfrm>
            <a:off x="6598919" y="2743200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字体与配色保持一致</a:t>
            </a:r>
          </a:p>
        </p:txBody>
      </p:sp>
      <p:sp>
        <p:nvSpPr>
          <p:cNvPr id="13" name="decor:right-marker-1"/>
          <p:cNvSpPr/>
          <p:nvPr/>
        </p:nvSpPr>
        <p:spPr>
          <a:xfrm>
            <a:off x="6324599" y="3341624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-1"/>
          <p:cNvSpPr txBox="1"/>
          <p:nvPr/>
        </p:nvSpPr>
        <p:spPr>
          <a:xfrm>
            <a:off x="6598919" y="3231896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文字、图表留有空间</a:t>
            </a:r>
          </a:p>
        </p:txBody>
      </p:sp>
      <p:sp>
        <p:nvSpPr>
          <p:cNvPr id="15" name="decor:right-marker-2"/>
          <p:cNvSpPr/>
          <p:nvPr/>
        </p:nvSpPr>
        <p:spPr>
          <a:xfrm>
            <a:off x="6324599" y="3830320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-2"/>
          <p:cNvSpPr txBox="1"/>
          <p:nvPr/>
        </p:nvSpPr>
        <p:spPr>
          <a:xfrm>
            <a:off x="6598919" y="3720592"/>
            <a:ext cx="4998719" cy="37896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8232F"/>
                </a:solidFill>
                <a:latin typeface="Arial"/>
                <a:ea typeface="Microsoft YaHei"/>
              </a:rPr>
              <a:t>导出后检查每一页</a:t>
            </a:r>
          </a:p>
        </p:txBody>
      </p:sp>
      <p:sp>
        <p:nvSpPr>
          <p:cNvPr id="17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从信息到交付形成完整闭环</a:t>
            </a:r>
          </a:p>
        </p:txBody>
      </p:sp>
      <p:sp>
        <p:nvSpPr>
          <p:cNvPr id="3" name="decor:process-card"/>
          <p:cNvSpPr/>
          <p:nvPr/>
        </p:nvSpPr>
        <p:spPr>
          <a:xfrm>
            <a:off x="594360" y="1920240"/>
            <a:ext cx="2586227" cy="3474720"/>
          </a:xfrm>
          <a:prstGeom prst="rect">
            <a:avLst/>
          </a:prstGeom>
          <a:solidFill>
            <a:srgbClr val="E6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ep-number-0"/>
          <p:cNvSpPr txBox="1"/>
          <p:nvPr/>
        </p:nvSpPr>
        <p:spPr>
          <a:xfrm>
            <a:off x="758952" y="2121408"/>
            <a:ext cx="2257043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7D78"/>
                </a:solidFill>
                <a:latin typeface="Arial"/>
                <a:ea typeface="Microsoft YaHei"/>
              </a:rPr>
              <a:t>01</a:t>
            </a:r>
          </a:p>
        </p:txBody>
      </p:sp>
      <p:sp>
        <p:nvSpPr>
          <p:cNvPr id="5" name="step-label-0"/>
          <p:cNvSpPr txBox="1"/>
          <p:nvPr/>
        </p:nvSpPr>
        <p:spPr>
          <a:xfrm>
            <a:off x="758952" y="3017520"/>
            <a:ext cx="225704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32F"/>
                </a:solidFill>
                <a:latin typeface="Arial"/>
                <a:ea typeface="Microsoft YaHei"/>
              </a:rPr>
              <a:t>提炼</a:t>
            </a:r>
          </a:p>
        </p:txBody>
      </p:sp>
      <p:sp>
        <p:nvSpPr>
          <p:cNvPr id="6" name="step-detail-0"/>
          <p:cNvSpPr txBox="1"/>
          <p:nvPr/>
        </p:nvSpPr>
        <p:spPr>
          <a:xfrm>
            <a:off x="758952" y="3977639"/>
            <a:ext cx="2257043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受众、目标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事实与来源</a:t>
            </a:r>
          </a:p>
        </p:txBody>
      </p:sp>
      <p:sp>
        <p:nvSpPr>
          <p:cNvPr id="7" name="decor:process-card"/>
          <p:cNvSpPr/>
          <p:nvPr/>
        </p:nvSpPr>
        <p:spPr>
          <a:xfrm>
            <a:off x="3400043" y="1920240"/>
            <a:ext cx="2586227" cy="3474720"/>
          </a:xfrm>
          <a:prstGeom prst="rect">
            <a:avLst/>
          </a:prstGeom>
          <a:solidFill>
            <a:srgbClr val="E6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ep-number-1"/>
          <p:cNvSpPr txBox="1"/>
          <p:nvPr/>
        </p:nvSpPr>
        <p:spPr>
          <a:xfrm>
            <a:off x="3564635" y="2121408"/>
            <a:ext cx="2257043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7D78"/>
                </a:solidFill>
                <a:latin typeface="Arial"/>
                <a:ea typeface="Microsoft YaHei"/>
              </a:rPr>
              <a:t>02</a:t>
            </a:r>
          </a:p>
        </p:txBody>
      </p:sp>
      <p:sp>
        <p:nvSpPr>
          <p:cNvPr id="9" name="step-label-1"/>
          <p:cNvSpPr txBox="1"/>
          <p:nvPr/>
        </p:nvSpPr>
        <p:spPr>
          <a:xfrm>
            <a:off x="3564635" y="3017520"/>
            <a:ext cx="225704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32F"/>
                </a:solidFill>
                <a:latin typeface="Arial"/>
                <a:ea typeface="Microsoft YaHei"/>
              </a:rPr>
              <a:t>组织</a:t>
            </a:r>
          </a:p>
        </p:txBody>
      </p:sp>
      <p:sp>
        <p:nvSpPr>
          <p:cNvPr id="10" name="step-detail-1"/>
          <p:cNvSpPr txBox="1"/>
          <p:nvPr/>
        </p:nvSpPr>
        <p:spPr>
          <a:xfrm>
            <a:off x="3564635" y="3977639"/>
            <a:ext cx="2257043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叙事、页面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节奏与备注</a:t>
            </a:r>
          </a:p>
        </p:txBody>
      </p:sp>
      <p:sp>
        <p:nvSpPr>
          <p:cNvPr id="11" name="decor:process-card"/>
          <p:cNvSpPr/>
          <p:nvPr/>
        </p:nvSpPr>
        <p:spPr>
          <a:xfrm>
            <a:off x="6205727" y="1920240"/>
            <a:ext cx="2586227" cy="3474720"/>
          </a:xfrm>
          <a:prstGeom prst="rect">
            <a:avLst/>
          </a:prstGeom>
          <a:solidFill>
            <a:srgbClr val="E6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-number-2"/>
          <p:cNvSpPr txBox="1"/>
          <p:nvPr/>
        </p:nvSpPr>
        <p:spPr>
          <a:xfrm>
            <a:off x="6370319" y="2121408"/>
            <a:ext cx="2257043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7D78"/>
                </a:solidFill>
                <a:latin typeface="Arial"/>
                <a:ea typeface="Microsoft YaHei"/>
              </a:rPr>
              <a:t>03</a:t>
            </a:r>
          </a:p>
        </p:txBody>
      </p:sp>
      <p:sp>
        <p:nvSpPr>
          <p:cNvPr id="13" name="step-label-2"/>
          <p:cNvSpPr txBox="1"/>
          <p:nvPr/>
        </p:nvSpPr>
        <p:spPr>
          <a:xfrm>
            <a:off x="6370319" y="3017520"/>
            <a:ext cx="225704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32F"/>
                </a:solidFill>
                <a:latin typeface="Arial"/>
                <a:ea typeface="Microsoft YaHei"/>
              </a:rPr>
              <a:t>生成</a:t>
            </a:r>
          </a:p>
        </p:txBody>
      </p:sp>
      <p:sp>
        <p:nvSpPr>
          <p:cNvPr id="14" name="step-detail-2"/>
          <p:cNvSpPr txBox="1"/>
          <p:nvPr/>
        </p:nvSpPr>
        <p:spPr>
          <a:xfrm>
            <a:off x="6370319" y="3977639"/>
            <a:ext cx="2257043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统一主题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原生可编辑</a:t>
            </a:r>
          </a:p>
        </p:txBody>
      </p:sp>
      <p:sp>
        <p:nvSpPr>
          <p:cNvPr id="15" name="decor:process-card"/>
          <p:cNvSpPr/>
          <p:nvPr/>
        </p:nvSpPr>
        <p:spPr>
          <a:xfrm>
            <a:off x="9011411" y="1920240"/>
            <a:ext cx="2586227" cy="3474720"/>
          </a:xfrm>
          <a:prstGeom prst="rect">
            <a:avLst/>
          </a:prstGeom>
          <a:solidFill>
            <a:srgbClr val="E6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-number-3"/>
          <p:cNvSpPr txBox="1"/>
          <p:nvPr/>
        </p:nvSpPr>
        <p:spPr>
          <a:xfrm>
            <a:off x="9176003" y="2121408"/>
            <a:ext cx="2257043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07D78"/>
                </a:solidFill>
                <a:latin typeface="Arial"/>
                <a:ea typeface="Microsoft YaHei"/>
              </a:rPr>
              <a:t>04</a:t>
            </a:r>
          </a:p>
        </p:txBody>
      </p:sp>
      <p:sp>
        <p:nvSpPr>
          <p:cNvPr id="17" name="step-label-3"/>
          <p:cNvSpPr txBox="1"/>
          <p:nvPr/>
        </p:nvSpPr>
        <p:spPr>
          <a:xfrm>
            <a:off x="9176003" y="3017520"/>
            <a:ext cx="2257043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232F"/>
                </a:solidFill>
                <a:latin typeface="Arial"/>
                <a:ea typeface="Microsoft YaHei"/>
              </a:rPr>
              <a:t>检查</a:t>
            </a:r>
          </a:p>
        </p:txBody>
      </p:sp>
      <p:sp>
        <p:nvSpPr>
          <p:cNvPr id="18" name="step-detail-3"/>
          <p:cNvSpPr txBox="1"/>
          <p:nvPr/>
        </p:nvSpPr>
        <p:spPr>
          <a:xfrm>
            <a:off x="9176003" y="3977639"/>
            <a:ext cx="2257043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结构、渲染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8232F"/>
                </a:solidFill>
                <a:latin typeface="Arial"/>
                <a:ea typeface="Microsoft YaHei"/>
              </a:rPr>
              <a:t>内容与边界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图表保留原始数据与编辑能力</a:t>
            </a:r>
          </a:p>
        </p:txBody>
      </p:sp>
      <p:graphicFrame>
        <p:nvGraphicFramePr>
          <p:cNvPr id="3" name="native-chart"/>
          <p:cNvGraphicFramePr>
            <a:graphicFrameLocks noGrp="1"/>
          </p:cNvGraphicFramePr>
          <p:nvPr/>
        </p:nvGraphicFramePr>
        <p:xfrm>
          <a:off x="594360" y="1828800"/>
          <a:ext cx="11003279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94360" y="5532120"/>
            <a:ext cx="11003279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16270"/>
                </a:solidFill>
                <a:latin typeface="Arial"/>
                <a:ea typeface="Microsoft YaHei"/>
              </a:rPr>
              <a:t>仅用于展示图表功能；数值不代表真实测量或方案优劣。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594360" y="6355080"/>
            <a:ext cx="1040891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6270"/>
                </a:solidFill>
                <a:latin typeface="Arial"/>
                <a:ea typeface="Microsoft YaHei"/>
              </a:rPr>
              <a:t>来源：本技能人工构造的示例数据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交付物应支持复核与重新生成</a:t>
            </a:r>
          </a:p>
        </p:txBody>
      </p:sp>
      <p:graphicFrame>
        <p:nvGraphicFramePr>
          <p:cNvPr id="3" name="native-table"/>
          <p:cNvGraphicFramePr>
            <a:graphicFrameLocks noGrp="1"/>
          </p:cNvGraphicFramePr>
          <p:nvPr/>
        </p:nvGraphicFramePr>
        <p:xfrm>
          <a:off x="594360" y="1828800"/>
          <a:ext cx="1100327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759"/>
                <a:gridCol w="3667759"/>
                <a:gridCol w="3667761"/>
              </a:tblGrid>
              <a:tr h="713232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交付物</a:t>
                      </a:r>
                    </a:p>
                  </a:txBody>
                  <a:tcPr marL="109728" marR="109728" marT="54864" marB="54864">
                    <a:solidFill>
                      <a:srgbClr val="182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作用</a:t>
                      </a:r>
                    </a:p>
                  </a:txBody>
                  <a:tcPr marL="109728" marR="109728" marT="54864" marB="54864">
                    <a:solidFill>
                      <a:srgbClr val="182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边界</a:t>
                      </a:r>
                    </a:p>
                  </a:txBody>
                  <a:tcPr marL="109728" marR="109728" marT="54864" marB="54864">
                    <a:solidFill>
                      <a:srgbClr val="18232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PPTX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演示与编辑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原生客户端仍需检查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JSON 源稿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可重复生成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需保留关联资源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逐页预览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发现布局问题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不代替内容审查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检查记录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明确验证范围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2F"/>
                          </a:solidFill>
                          <a:latin typeface="Arial"/>
                          <a:ea typeface="Microsoft YaHei"/>
                        </a:rPr>
                        <a:t>未执行项如实标注</a:t>
                      </a:r>
                    </a:p>
                  </a:txBody>
                  <a:tcPr marL="109728" marR="109728" marT="54864" marB="54864">
                    <a:solidFill>
                      <a:srgbClr val="E6EFED"/>
                    </a:solidFill>
                  </a:tcPr>
                </a:tc>
              </a:tr>
            </a:tbl>
          </a:graphicData>
        </a:graphic>
      </p:graphicFrame>
      <p:sp>
        <p:nvSpPr>
          <p:cNvPr id="4" name="source"/>
          <p:cNvSpPr txBox="1"/>
          <p:nvPr/>
        </p:nvSpPr>
        <p:spPr>
          <a:xfrm>
            <a:off x="594360" y="6355080"/>
            <a:ext cx="1040891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6270"/>
                </a:solidFill>
                <a:latin typeface="Arial"/>
                <a:ea typeface="Microsoft YaHei"/>
              </a:rPr>
              <a:t>来源：本技能交付约定</a:t>
            </a:r>
          </a:p>
        </p:txBody>
      </p:sp>
      <p:sp>
        <p:nvSpPr>
          <p:cNvPr id="5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cover-panel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kicker"/>
          <p:cNvSpPr txBox="1"/>
          <p:nvPr/>
        </p:nvSpPr>
        <p:spPr>
          <a:xfrm>
            <a:off x="594360" y="685800"/>
            <a:ext cx="110032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FED"/>
                </a:solidFill>
                <a:latin typeface="Arial"/>
                <a:ea typeface="Microsoft YaHei"/>
              </a:rPr>
              <a:t>OpenAS · PRESENTATION WORKFLOW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94360" y="1645920"/>
            <a:ext cx="11003279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  <a:ea typeface="Microsoft YaHei"/>
              </a:rPr>
              <a:t>文件生成只是开始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  <a:ea typeface="Microsoft YaHei"/>
              </a:rPr>
              <a:t>验证决定交付质量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94360" y="3474720"/>
            <a:ext cx="11003279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E6EFED"/>
                </a:solidFill>
                <a:latin typeface="Arial"/>
                <a:ea typeface="Microsoft YaHei"/>
              </a:rPr>
              <a:t>结构检查 → 实际渲染 → 逐页复核</a:t>
            </a:r>
          </a:p>
        </p:txBody>
      </p:sp>
      <p:sp>
        <p:nvSpPr>
          <p:cNvPr id="6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FED"/>
                </a:solidFill>
                <a:latin typeface="Arial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94360" y="502920"/>
            <a:ext cx="11003279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8232F"/>
                </a:solidFill>
                <a:latin typeface="Arial"/>
                <a:ea typeface="Microsoft YaHei"/>
              </a:rPr>
              <a:t>下一步：用真实材料完成一次演示</a:t>
            </a:r>
          </a:p>
        </p:txBody>
      </p:sp>
      <p:sp>
        <p:nvSpPr>
          <p:cNvPr id="3" name="decor:body-marker-0"/>
          <p:cNvSpPr/>
          <p:nvPr/>
        </p:nvSpPr>
        <p:spPr>
          <a:xfrm>
            <a:off x="594360" y="1938528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dy-0"/>
          <p:cNvSpPr txBox="1"/>
          <p:nvPr/>
        </p:nvSpPr>
        <p:spPr>
          <a:xfrm>
            <a:off x="868680" y="1828800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准备受众、目标和可信材料</a:t>
            </a:r>
          </a:p>
        </p:txBody>
      </p:sp>
      <p:sp>
        <p:nvSpPr>
          <p:cNvPr id="5" name="decor:body-marker-1"/>
          <p:cNvSpPr/>
          <p:nvPr/>
        </p:nvSpPr>
        <p:spPr>
          <a:xfrm>
            <a:off x="594360" y="2471420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-1"/>
          <p:cNvSpPr txBox="1"/>
          <p:nvPr/>
        </p:nvSpPr>
        <p:spPr>
          <a:xfrm>
            <a:off x="868680" y="2361692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将复杂内容拆成清楚的页面</a:t>
            </a:r>
          </a:p>
        </p:txBody>
      </p:sp>
      <p:sp>
        <p:nvSpPr>
          <p:cNvPr id="7" name="decor:body-marker-2"/>
          <p:cNvSpPr/>
          <p:nvPr/>
        </p:nvSpPr>
        <p:spPr>
          <a:xfrm>
            <a:off x="594360" y="3004312"/>
            <a:ext cx="68580" cy="68580"/>
          </a:xfrm>
          <a:prstGeom prst="rect">
            <a:avLst/>
          </a:prstGeom>
          <a:solidFill>
            <a:srgbClr val="00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-2"/>
          <p:cNvSpPr txBox="1"/>
          <p:nvPr/>
        </p:nvSpPr>
        <p:spPr>
          <a:xfrm>
            <a:off x="868680" y="2894584"/>
            <a:ext cx="10728959" cy="423163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8232F"/>
                </a:solidFill>
                <a:latin typeface="Arial"/>
                <a:ea typeface="Microsoft YaHei"/>
              </a:rPr>
              <a:t>交付可编辑文件、源稿和验证记录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1277599" y="6355080"/>
            <a:ext cx="3657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16270"/>
                </a:solidFill>
                <a:latin typeface="Arial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从材料到可验证的演示文稿</dc:title>
  <dc:subject>Editable presentation generated from an OpenAS JSON specification</dc:subject>
  <dc:creator/>
  <cp:keywords/>
  <dc:description>generated using python-pptx</dc:description>
  <cp:lastModifiedBy>OpenAS</cp:lastModifiedBy>
  <cp:revision>1</cp:revision>
  <dcterms:created xsi:type="dcterms:W3CDTF">2026-10-24T07:11:11Z</dcterms:created>
  <dcterms:modified xsi:type="dcterms:W3CDTF">2026-10-24T07:11:11Z</dcterms:modified>
  <cp:category/>
</cp:coreProperties>
</file>